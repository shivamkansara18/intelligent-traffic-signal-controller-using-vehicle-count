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46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82A24-4F4D-FF1E-9FD5-CDF947DA7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19712-AC4E-A188-97C8-6F36C6F0A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3B481-F194-58AF-AAAA-FDF25726F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DBF91-47C1-F1D5-80BE-5FEE899547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26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4.png"/><Relationship Id="rId5" Type="http://schemas.openxmlformats.org/officeDocument/2006/relationships/image" Target="../media/image59.png"/><Relationship Id="rId10" Type="http://schemas.openxmlformats.org/officeDocument/2006/relationships/image" Target="../media/image1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4.png"/><Relationship Id="rId5" Type="http://schemas.openxmlformats.org/officeDocument/2006/relationships/image" Target="../media/image59.png"/><Relationship Id="rId10" Type="http://schemas.openxmlformats.org/officeDocument/2006/relationships/image" Target="../media/image1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5" y="15630"/>
            <a:ext cx="12191695" cy="74487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576426" y="676656"/>
            <a:ext cx="9382658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Traffic Signal Controller Using Vehicle Count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429561" y="2011680"/>
            <a:ext cx="75538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Traffic Signal Control using YOLO &amp; OpenCV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667098" y="2783434"/>
            <a:ext cx="2866644" cy="514807"/>
          </a:xfrm>
          <a:prstGeom prst="roundRect">
            <a:avLst>
              <a:gd name="adj" fmla="val 98678"/>
            </a:avLst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14900" y="29260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| Computer Vision | ITS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688" r="-688"/>
          <a:stretch/>
        </p:blipFill>
        <p:spPr>
          <a:xfrm>
            <a:off x="5067605" y="4101998"/>
            <a:ext cx="362102" cy="5715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7451" y="4101998"/>
            <a:ext cx="571500" cy="5715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347" r="-347"/>
          <a:stretch/>
        </p:blipFill>
        <p:spPr>
          <a:xfrm>
            <a:off x="6476695" y="4101998"/>
            <a:ext cx="647395" cy="5715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66283" y="5516575"/>
            <a:ext cx="14008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5538521" y="6279185"/>
            <a:ext cx="1257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Guide/Mentor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3678213" y="5821985"/>
            <a:ext cx="50565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Arth </a:t>
            </a:r>
            <a:r>
              <a:rPr lang="en-US" sz="1400" b="1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Sonani</a:t>
            </a:r>
            <a:r>
              <a:rPr lang="en-US" sz="14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(22BCP085)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Shivam Kansara (22BCP090)</a:t>
            </a:r>
          </a:p>
        </p:txBody>
      </p:sp>
      <p:sp>
        <p:nvSpPr>
          <p:cNvPr id="14" name="Text 9"/>
          <p:cNvSpPr txBox="1"/>
          <p:nvPr/>
        </p:nvSpPr>
        <p:spPr>
          <a:xfrm>
            <a:off x="5332781" y="6583680"/>
            <a:ext cx="1696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Archana Nigam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76402" y="219456"/>
            <a:ext cx="22768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1245413"/>
            <a:ext cx="209398" cy="2093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8446" y="1257300"/>
            <a:ext cx="57918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Growing urban traffic congestion requires intelligent traffic management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402" y="2152498"/>
            <a:ext cx="209398" cy="2093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8446" y="2164385"/>
            <a:ext cx="62682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systems use fixed timers, causing delays and inefficiency</a:t>
            </a:r>
            <a:endParaRPr lang="en-US" sz="1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402" y="3058668"/>
            <a:ext cx="209398" cy="20939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28446" y="3070555"/>
            <a:ext cx="58110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AI-based adaptive traffic control can optimize signal timing dynamically</a:t>
            </a:r>
            <a:endParaRPr lang="en-US" sz="1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461" r="-461"/>
          <a:stretch/>
        </p:blipFill>
        <p:spPr>
          <a:xfrm>
            <a:off x="476402" y="3965753"/>
            <a:ext cx="237744" cy="20939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57707" y="3977640"/>
            <a:ext cx="56199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real-time vehicle count from camera feed for decision-making</a:t>
            </a:r>
            <a:endParaRPr lang="en-US" sz="1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l="-36" r="-36"/>
          <a:stretch/>
        </p:blipFill>
        <p:spPr>
          <a:xfrm>
            <a:off x="8953805" y="1813255"/>
            <a:ext cx="476402" cy="76169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5305" y="1979676"/>
            <a:ext cx="571500" cy="571500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rcRect l="-54160" r="-54160"/>
          <a:stretch/>
        </p:blipFill>
        <p:spPr>
          <a:xfrm>
            <a:off x="8930030" y="2861158"/>
            <a:ext cx="1190549" cy="571500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239098" y="3717950"/>
            <a:ext cx="571500" cy="571500"/>
          </a:xfrm>
          <a:prstGeom prst="rect">
            <a:avLst/>
          </a:prstGeom>
        </p:spPr>
      </p:pic>
      <p:sp>
        <p:nvSpPr>
          <p:cNvPr id="17" name="Shape 7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0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23" name="Text 11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5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76402" y="219456"/>
            <a:ext cx="34290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1282196"/>
            <a:ext cx="209398" cy="2093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8446" y="1257300"/>
            <a:ext cx="5267554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Issue: </a:t>
            </a: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Fixed-time signals fail to handle variable traffic flow efficiently 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402" y="2202013"/>
            <a:ext cx="209398" cy="2093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8446" y="2164385"/>
            <a:ext cx="10195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Impact:</a:t>
            </a:r>
            <a:endParaRPr lang="en-US" sz="1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1773" r="-1773"/>
          <a:stretch/>
        </p:blipFill>
        <p:spPr>
          <a:xfrm>
            <a:off x="828446" y="2658161"/>
            <a:ext cx="133502" cy="17190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80898" y="3575305"/>
            <a:ext cx="53151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Need: </a:t>
            </a: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system that adjusts green light duration dynamically based on real-time vehicle density.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1104595" y="2655418"/>
            <a:ext cx="39438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waiting times at low-traffic lanes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828446" y="3094330"/>
            <a:ext cx="219456" cy="171907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90549" y="3091586"/>
            <a:ext cx="44010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fuel consumption and emissions</a:t>
            </a:r>
            <a:endParaRPr lang="en-US" sz="17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l="-1528" r="-1528"/>
          <a:stretch/>
        </p:blipFill>
        <p:spPr>
          <a:xfrm>
            <a:off x="475945" y="3613251"/>
            <a:ext cx="161849" cy="20939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 l="-365" r="-365"/>
          <a:stretch/>
        </p:blipFill>
        <p:spPr>
          <a:xfrm>
            <a:off x="9048902" y="1516990"/>
            <a:ext cx="599846" cy="952805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572500" y="2755087"/>
            <a:ext cx="428854" cy="428854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rcRect l="-365" r="-365"/>
          <a:stretch/>
        </p:blipFill>
        <p:spPr>
          <a:xfrm>
            <a:off x="10001707" y="2755087"/>
            <a:ext cx="599846" cy="476402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1"/>
          <a:srcRect t="-24" b="-24"/>
          <a:stretch/>
        </p:blipFill>
        <p:spPr>
          <a:xfrm>
            <a:off x="9334195" y="3422599"/>
            <a:ext cx="476402" cy="381305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2"/>
          <a:srcRect l="-469" r="-469"/>
          <a:stretch/>
        </p:blipFill>
        <p:spPr>
          <a:xfrm>
            <a:off x="8382305" y="3517697"/>
            <a:ext cx="504749" cy="571500"/>
          </a:xfrm>
          <a:prstGeom prst="rect">
            <a:avLst/>
          </a:prstGeom>
        </p:spPr>
      </p:pic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096805" y="3517697"/>
            <a:ext cx="476402" cy="476402"/>
          </a:xfrm>
          <a:prstGeom prst="rect">
            <a:avLst/>
          </a:prstGeom>
        </p:spPr>
      </p:pic>
      <p:sp>
        <p:nvSpPr>
          <p:cNvPr id="21" name="Shape 8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11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27" name="Text 12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76402" y="219456"/>
            <a:ext cx="20290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1245413"/>
            <a:ext cx="209398" cy="2093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8446" y="1257300"/>
            <a:ext cx="5906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vehicles in real-time using YOLO and OpenCV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402" y="1832458"/>
            <a:ext cx="209398" cy="2093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8446" y="1844345"/>
            <a:ext cx="3857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 vehicles at each signal lane</a:t>
            </a:r>
            <a:endParaRPr lang="en-US" sz="1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1004" r="-1004"/>
          <a:stretch/>
        </p:blipFill>
        <p:spPr>
          <a:xfrm>
            <a:off x="514350" y="2667852"/>
            <a:ext cx="133502" cy="20939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52551" y="2430475"/>
            <a:ext cx="60204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Dynamically adjust green signal time based on vehicle count</a:t>
            </a:r>
            <a:endParaRPr lang="en-US" sz="1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6402" y="3362249"/>
            <a:ext cx="209398" cy="20939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28446" y="3337560"/>
            <a:ext cx="5943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traffic flow efficiency and reduce congestion</a:t>
            </a:r>
            <a:endParaRPr lang="en-US" sz="1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239098" y="1380744"/>
            <a:ext cx="571500" cy="57150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24951" y="2143354"/>
            <a:ext cx="381305" cy="38130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rcRect t="-279" b="-279"/>
          <a:stretch/>
        </p:blipFill>
        <p:spPr>
          <a:xfrm>
            <a:off x="9991649" y="2143354"/>
            <a:ext cx="533095" cy="428854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rcRect l="-192" r="-192"/>
          <a:stretch/>
        </p:blipFill>
        <p:spPr>
          <a:xfrm>
            <a:off x="9315907" y="2714854"/>
            <a:ext cx="418795" cy="333756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1"/>
          <a:srcRect l="-261" r="-261"/>
          <a:stretch/>
        </p:blipFill>
        <p:spPr>
          <a:xfrm>
            <a:off x="9315907" y="2905049"/>
            <a:ext cx="418795" cy="666598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8602675" y="3504895"/>
            <a:ext cx="1991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Detection</a:t>
            </a:r>
            <a:endParaRPr lang="en-US" sz="1500" dirty="0"/>
          </a:p>
        </p:txBody>
      </p:sp>
      <p:sp>
        <p:nvSpPr>
          <p:cNvPr id="19" name="Shape 8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11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25" name="Text 12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76402" y="219456"/>
            <a:ext cx="58485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Related Works (Literature Survey)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1245413"/>
            <a:ext cx="209398" cy="2093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8446" y="1257300"/>
            <a:ext cx="6201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on Intelligent Transportation Systems using AI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461" r="-461"/>
          <a:stretch/>
        </p:blipFill>
        <p:spPr>
          <a:xfrm>
            <a:off x="476402" y="1832458"/>
            <a:ext cx="237744" cy="2093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7707" y="1844345"/>
            <a:ext cx="58960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YOLO-based vehicle detection widely used for traffic analysis</a:t>
            </a:r>
            <a:endParaRPr lang="en-US" sz="1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-600" b="-600"/>
          <a:stretch/>
        </p:blipFill>
        <p:spPr>
          <a:xfrm>
            <a:off x="476402" y="2738628"/>
            <a:ext cx="181051" cy="20939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0100" y="2750515"/>
            <a:ext cx="58677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Previous works focused on generic datasets, lacking accuracy for Indian traffic conditions</a:t>
            </a:r>
            <a:endParaRPr lang="en-US" sz="1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6402" y="3645713"/>
            <a:ext cx="209398" cy="20939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28446" y="3657600"/>
            <a:ext cx="60396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Gap: Need for region-specific customization for better accuracy</a:t>
            </a:r>
            <a:endParaRPr lang="en-US" sz="1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l="-469" r="-469"/>
          <a:stretch/>
        </p:blipFill>
        <p:spPr>
          <a:xfrm>
            <a:off x="8939174" y="1653235"/>
            <a:ext cx="504749" cy="57150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34118" y="1736446"/>
            <a:ext cx="476402" cy="476402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rcRect t="-268" b="-268"/>
          <a:stretch/>
        </p:blipFill>
        <p:spPr>
          <a:xfrm>
            <a:off x="8973007" y="2606040"/>
            <a:ext cx="533095" cy="476402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696298" y="2689250"/>
            <a:ext cx="381305" cy="381305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191549" y="3462833"/>
            <a:ext cx="666598" cy="666598"/>
          </a:xfrm>
          <a:prstGeom prst="rect">
            <a:avLst/>
          </a:prstGeom>
        </p:spPr>
      </p:pic>
      <p:sp>
        <p:nvSpPr>
          <p:cNvPr id="18" name="Shape 7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10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24" name="Text 11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76402" y="219456"/>
            <a:ext cx="63825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Technology / Methodology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76402" y="1171346"/>
            <a:ext cx="15910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Technologies: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476402" y="1595628"/>
            <a:ext cx="171907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3407" y="1580998"/>
            <a:ext cx="781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402" y="1928470"/>
            <a:ext cx="190195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1695" y="1914754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476402" y="2262226"/>
            <a:ext cx="219456" cy="1901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90956" y="2247595"/>
            <a:ext cx="2686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 (You Only Look Once)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4412894" y="1171346"/>
            <a:ext cx="16861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 Steps: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12894" y="1573682"/>
            <a:ext cx="171907" cy="17190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99102" y="1571854"/>
            <a:ext cx="3429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 detection using YOLO + OpenCV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12894" y="1928470"/>
            <a:ext cx="171907" cy="171907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699102" y="1925726"/>
            <a:ext cx="4305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for vehicle classes (car, bus, truck, bike, auto)</a:t>
            </a:r>
            <a:endParaRPr lang="en-US" sz="14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12894" y="2282342"/>
            <a:ext cx="171907" cy="171907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4699102" y="2279599"/>
            <a:ext cx="3400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Fine-tune YOLO on Indian traffic dataset</a:t>
            </a:r>
            <a:endParaRPr lang="en-US" sz="14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12894" y="2636215"/>
            <a:ext cx="171907" cy="171907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4699102" y="2634386"/>
            <a:ext cx="4553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 vehicles and calculate signal timing dynamically</a:t>
            </a:r>
            <a:endParaRPr lang="en-US" sz="14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12894" y="2991002"/>
            <a:ext cx="171907" cy="171907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4699102" y="2988259"/>
            <a:ext cx="43918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LED signals or simulation for practical output</a:t>
            </a:r>
            <a:endParaRPr lang="en-US" sz="1400" dirty="0"/>
          </a:p>
        </p:txBody>
      </p:sp>
      <p:sp>
        <p:nvSpPr>
          <p:cNvPr id="23" name="Text 13"/>
          <p:cNvSpPr txBox="1"/>
          <p:nvPr/>
        </p:nvSpPr>
        <p:spPr>
          <a:xfrm>
            <a:off x="5202936" y="3638398"/>
            <a:ext cx="1953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Workflow</a:t>
            </a:r>
            <a:endParaRPr lang="en-US" sz="1700" dirty="0"/>
          </a:p>
        </p:txBody>
      </p:sp>
      <p:sp>
        <p:nvSpPr>
          <p:cNvPr id="24" name="Shape 14"/>
          <p:cNvSpPr/>
          <p:nvPr/>
        </p:nvSpPr>
        <p:spPr>
          <a:xfrm>
            <a:off x="1886407" y="4228186"/>
            <a:ext cx="1333195" cy="1076249"/>
          </a:xfrm>
          <a:prstGeom prst="roundRect">
            <a:avLst>
              <a:gd name="adj" fmla="val 6015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rcRect l="-266" r="-266"/>
          <a:stretch/>
        </p:blipFill>
        <p:spPr>
          <a:xfrm>
            <a:off x="2391156" y="4454957"/>
            <a:ext cx="323698" cy="286207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2062886" y="4933188"/>
            <a:ext cx="1095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 Input</a:t>
            </a:r>
            <a:endParaRPr lang="en-US" sz="12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8"/>
          <a:srcRect t="-530" b="-530"/>
          <a:stretch/>
        </p:blipFill>
        <p:spPr>
          <a:xfrm>
            <a:off x="3314700" y="4624121"/>
            <a:ext cx="247802" cy="286207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3657600" y="4113886"/>
            <a:ext cx="1333195" cy="1304849"/>
          </a:xfrm>
          <a:prstGeom prst="roundRect">
            <a:avLst>
              <a:gd name="adj" fmla="val 4092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9"/>
          <a:srcRect l="-266" r="-266"/>
          <a:stretch/>
        </p:blipFill>
        <p:spPr>
          <a:xfrm>
            <a:off x="4162349" y="4340657"/>
            <a:ext cx="323698" cy="286207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3973982" y="4818888"/>
            <a:ext cx="8193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 Detection</a:t>
            </a:r>
            <a:endParaRPr lang="en-US" sz="12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8"/>
          <a:srcRect t="-530" b="-530"/>
          <a:stretch/>
        </p:blipFill>
        <p:spPr>
          <a:xfrm>
            <a:off x="5086807" y="4624121"/>
            <a:ext cx="247802" cy="286207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5429707" y="4113886"/>
            <a:ext cx="1333195" cy="1304849"/>
          </a:xfrm>
          <a:prstGeom prst="roundRect">
            <a:avLst>
              <a:gd name="adj" fmla="val 4092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52744" y="4340657"/>
            <a:ext cx="286207" cy="286207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5828386" y="4818888"/>
            <a:ext cx="6574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 Count</a:t>
            </a:r>
            <a:endParaRPr lang="en-US" sz="1200" dirty="0"/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8"/>
          <a:srcRect t="-530" b="-530"/>
          <a:stretch/>
        </p:blipFill>
        <p:spPr>
          <a:xfrm>
            <a:off x="6858000" y="4624121"/>
            <a:ext cx="247802" cy="286207"/>
          </a:xfrm>
          <a:prstGeom prst="rect">
            <a:avLst/>
          </a:prstGeom>
        </p:spPr>
      </p:pic>
      <p:sp>
        <p:nvSpPr>
          <p:cNvPr id="36" name="Shape 20"/>
          <p:cNvSpPr/>
          <p:nvPr/>
        </p:nvSpPr>
        <p:spPr>
          <a:xfrm>
            <a:off x="7200900" y="4113886"/>
            <a:ext cx="1333195" cy="1304849"/>
          </a:xfrm>
          <a:prstGeom prst="roundRect">
            <a:avLst>
              <a:gd name="adj" fmla="val 4092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11"/>
          <a:srcRect l="-1118" r="-1118"/>
          <a:stretch/>
        </p:blipFill>
        <p:spPr>
          <a:xfrm>
            <a:off x="7757770" y="4340657"/>
            <a:ext cx="219456" cy="286207"/>
          </a:xfrm>
          <a:prstGeom prst="rect">
            <a:avLst/>
          </a:prstGeom>
        </p:spPr>
      </p:pic>
      <p:sp>
        <p:nvSpPr>
          <p:cNvPr id="38" name="Text 21"/>
          <p:cNvSpPr txBox="1"/>
          <p:nvPr/>
        </p:nvSpPr>
        <p:spPr>
          <a:xfrm>
            <a:off x="7374636" y="4818888"/>
            <a:ext cx="11055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Timing Adjustment</a:t>
            </a:r>
            <a:endParaRPr lang="en-US" sz="1200" dirty="0"/>
          </a:p>
        </p:txBody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8"/>
          <a:srcRect t="-530" b="-530"/>
          <a:stretch/>
        </p:blipFill>
        <p:spPr>
          <a:xfrm>
            <a:off x="8630107" y="4624121"/>
            <a:ext cx="247802" cy="286207"/>
          </a:xfrm>
          <a:prstGeom prst="rect">
            <a:avLst/>
          </a:prstGeom>
        </p:spPr>
      </p:pic>
      <p:sp>
        <p:nvSpPr>
          <p:cNvPr id="40" name="Shape 22"/>
          <p:cNvSpPr/>
          <p:nvPr/>
        </p:nvSpPr>
        <p:spPr>
          <a:xfrm>
            <a:off x="8973007" y="4228186"/>
            <a:ext cx="1333195" cy="1076249"/>
          </a:xfrm>
          <a:prstGeom prst="roundRect">
            <a:avLst>
              <a:gd name="adj" fmla="val 6015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41" name="Image 16" descr="preencoded.png"/>
          <p:cNvPicPr>
            <a:picLocks noChangeAspect="1"/>
          </p:cNvPicPr>
          <p:nvPr/>
        </p:nvPicPr>
        <p:blipFill>
          <a:blip r:embed="rId12"/>
          <a:srcRect l="-607" r="-607"/>
          <a:stretch/>
        </p:blipFill>
        <p:spPr>
          <a:xfrm>
            <a:off x="9549079" y="4454957"/>
            <a:ext cx="181051" cy="286207"/>
          </a:xfrm>
          <a:prstGeom prst="rect">
            <a:avLst/>
          </a:prstGeom>
        </p:spPr>
      </p:pic>
      <p:sp>
        <p:nvSpPr>
          <p:cNvPr id="42" name="Text 23"/>
          <p:cNvSpPr txBox="1"/>
          <p:nvPr/>
        </p:nvSpPr>
        <p:spPr>
          <a:xfrm>
            <a:off x="9389974" y="4933188"/>
            <a:ext cx="619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200" dirty="0"/>
          </a:p>
        </p:txBody>
      </p:sp>
      <p:sp>
        <p:nvSpPr>
          <p:cNvPr id="43" name="Shape 24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27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76402" y="219456"/>
            <a:ext cx="50008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(Week 1 to Week 4)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1362456"/>
            <a:ext cx="34006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Timeline and Milestones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78585" y="2085746"/>
            <a:ext cx="2578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76402" y="2648102"/>
            <a:ext cx="2095805" cy="1742846"/>
          </a:xfrm>
          <a:prstGeom prst="roundRect">
            <a:avLst>
              <a:gd name="adj" fmla="val 2294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2611" y="2838298"/>
            <a:ext cx="724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638251" y="3200400"/>
            <a:ext cx="19019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05256" y="3181198"/>
            <a:ext cx="1524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discussion &amp; tech research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638251" y="3733495"/>
            <a:ext cx="133502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06163" y="2085746"/>
            <a:ext cx="2953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3524098" y="2648102"/>
            <a:ext cx="2095805" cy="1742846"/>
          </a:xfrm>
          <a:prstGeom prst="roundRect">
            <a:avLst>
              <a:gd name="adj" fmla="val 2294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263847" y="2838298"/>
            <a:ext cx="7525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47649" y="3715207"/>
            <a:ext cx="14959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Assigned study on YOLO and OpenCV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3685946" y="3200400"/>
            <a:ext cx="190195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52951" y="3181198"/>
            <a:ext cx="15819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YOLO-based detection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685946" y="3733495"/>
            <a:ext cx="152705" cy="152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552030" y="2085746"/>
            <a:ext cx="305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6572707" y="2648102"/>
            <a:ext cx="2095805" cy="1971446"/>
          </a:xfrm>
          <a:prstGeom prst="roundRect">
            <a:avLst>
              <a:gd name="adj" fmla="val 1793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620402" y="2648102"/>
            <a:ext cx="2095805" cy="1742846"/>
          </a:xfrm>
          <a:prstGeom prst="roundRect">
            <a:avLst>
              <a:gd name="adj" fmla="val 2294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310628" y="2838298"/>
            <a:ext cx="7525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3</a:t>
            </a:r>
            <a:endParaRPr lang="en-US" sz="14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6734556" y="3200400"/>
            <a:ext cx="133502" cy="1527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43954" y="3181198"/>
            <a:ext cx="12865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Collected Indian traffic datasets</a:t>
            </a:r>
            <a:endParaRPr lang="en-US" sz="12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6734556" y="3733495"/>
            <a:ext cx="190195" cy="1527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596982" y="2085746"/>
            <a:ext cx="305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10355580" y="2838298"/>
            <a:ext cx="762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7000646" y="3715207"/>
            <a:ext cx="1476756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Started fine-tuning YOLO for better accuracy</a:t>
            </a:r>
            <a:endParaRPr lang="en-US" sz="12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9782251" y="3200400"/>
            <a:ext cx="190195" cy="15270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914546" y="3715207"/>
            <a:ext cx="12097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Filtered vehicle classes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10049256" y="3181198"/>
            <a:ext cx="13149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Continued YOLO customization</a:t>
            </a:r>
            <a:endParaRPr lang="en-US" sz="12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782251" y="3733495"/>
            <a:ext cx="152705" cy="1527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0010851" y="3715207"/>
            <a:ext cx="14008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on Indian dataset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476402" y="4809744"/>
            <a:ext cx="11239805" cy="75895"/>
          </a:xfrm>
          <a:prstGeom prst="roundRect">
            <a:avLst>
              <a:gd name="adj" fmla="val 602411"/>
            </a:avLst>
          </a:prstGeom>
          <a:solidFill>
            <a:srgbClr val="2563EB"/>
          </a:solidFill>
          <a:ln/>
        </p:spPr>
      </p:sp>
      <p:sp>
        <p:nvSpPr>
          <p:cNvPr id="35" name="Shape 25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Shape 26"/>
          <p:cNvSpPr/>
          <p:nvPr/>
        </p:nvSpPr>
        <p:spPr>
          <a:xfrm>
            <a:off x="1238098" y="1933956"/>
            <a:ext cx="571500" cy="571500"/>
          </a:xfrm>
          <a:prstGeom prst="ellipse">
            <a:avLst/>
          </a:prstGeom>
          <a:solidFill>
            <a:srgbClr val="EFF6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4286707" y="1933956"/>
            <a:ext cx="571500" cy="571500"/>
          </a:xfrm>
          <a:prstGeom prst="ellipse">
            <a:avLst/>
          </a:prstGeom>
          <a:solidFill>
            <a:srgbClr val="EFF6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7334402" y="1933956"/>
            <a:ext cx="571500" cy="571500"/>
          </a:xfrm>
          <a:prstGeom prst="ellipse">
            <a:avLst/>
          </a:prstGeom>
          <a:solidFill>
            <a:srgbClr val="EFF6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10382098" y="1933956"/>
            <a:ext cx="571500" cy="571500"/>
          </a:xfrm>
          <a:prstGeom prst="ellipse">
            <a:avLst/>
          </a:prstGeom>
          <a:solidFill>
            <a:srgbClr val="EFF6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76402" y="219456"/>
            <a:ext cx="21342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1245413"/>
            <a:ext cx="209398" cy="2093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8446" y="1257300"/>
            <a:ext cx="47722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base YOLO detection system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402" y="1832458"/>
            <a:ext cx="209398" cy="2093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8446" y="1844345"/>
            <a:ext cx="4763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on customization for Indian traffic</a:t>
            </a:r>
            <a:endParaRPr lang="en-US" sz="1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402" y="2418588"/>
            <a:ext cx="209398" cy="20939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28446" y="2430475"/>
            <a:ext cx="52102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Fine-tuning phase ongoing for better accuracy</a:t>
            </a:r>
            <a:endParaRPr lang="en-US" sz="1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600" b="-600"/>
          <a:stretch/>
        </p:blipFill>
        <p:spPr>
          <a:xfrm>
            <a:off x="476402" y="3005633"/>
            <a:ext cx="181051" cy="20939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00100" y="3017520"/>
            <a:ext cx="5306263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for integration with signal control logic in upcoming weeks</a:t>
            </a:r>
            <a:endParaRPr lang="en-US" sz="1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91549" y="1423721"/>
            <a:ext cx="666598" cy="66659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rcRect l="-17" r="-17"/>
          <a:stretch/>
        </p:blipFill>
        <p:spPr>
          <a:xfrm>
            <a:off x="9072677" y="2376526"/>
            <a:ext cx="333756" cy="38130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596628" y="2376526"/>
            <a:ext cx="381305" cy="381305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rcRect l="-688" r="-688"/>
          <a:stretch/>
        </p:blipFill>
        <p:spPr>
          <a:xfrm>
            <a:off x="8706002" y="3148279"/>
            <a:ext cx="362102" cy="571500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1"/>
          <a:srcRect l="-17" r="-17"/>
          <a:stretch/>
        </p:blipFill>
        <p:spPr>
          <a:xfrm>
            <a:off x="9210751" y="3314700"/>
            <a:ext cx="333756" cy="381305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2"/>
          <a:srcRect l="-192" r="-192"/>
          <a:stretch/>
        </p:blipFill>
        <p:spPr>
          <a:xfrm>
            <a:off x="9687154" y="3189427"/>
            <a:ext cx="657454" cy="523951"/>
          </a:xfrm>
          <a:prstGeom prst="rect">
            <a:avLst/>
          </a:prstGeom>
        </p:spPr>
      </p:pic>
      <p:sp>
        <p:nvSpPr>
          <p:cNvPr id="19" name="Shape 7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10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25" name="Text 11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76402" y="219456"/>
            <a:ext cx="77065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for Next Evaluation (After Week 10)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6402" y="1429207"/>
            <a:ext cx="1285646" cy="476402"/>
          </a:xfrm>
          <a:prstGeom prst="roundRect">
            <a:avLst>
              <a:gd name="adj" fmla="val 30710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76402" y="2171700"/>
            <a:ext cx="1143000" cy="476402"/>
          </a:xfrm>
          <a:prstGeom prst="roundRect">
            <a:avLst>
              <a:gd name="adj" fmla="val 30710"/>
            </a:avLst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476402" y="2991002"/>
            <a:ext cx="1143000" cy="476402"/>
          </a:xfrm>
          <a:prstGeom prst="roundRect">
            <a:avLst>
              <a:gd name="adj" fmla="val 30710"/>
            </a:avLst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476402" y="3733495"/>
            <a:ext cx="1143000" cy="476402"/>
          </a:xfrm>
          <a:prstGeom prst="roundRect">
            <a:avLst>
              <a:gd name="adj" fmla="val 30710"/>
            </a:avLst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476402" y="4476902"/>
            <a:ext cx="1143000" cy="476402"/>
          </a:xfrm>
          <a:prstGeom prst="roundRect">
            <a:avLst>
              <a:gd name="adj" fmla="val 3071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9049" y="1552651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5-6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9574" y="2295144"/>
            <a:ext cx="829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7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3174" y="3114446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8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3174" y="3857854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9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1111" y="4600346"/>
            <a:ext cx="924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950415" y="1538021"/>
            <a:ext cx="50292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fine-tuning &amp; validation of YOLO model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809598" y="2124151"/>
            <a:ext cx="51627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vehicle counting logic and signal timing algorithm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809598" y="2943454"/>
            <a:ext cx="47439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simulation or LED-based traffic signal system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809598" y="3843223"/>
            <a:ext cx="4914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and real-time testing with video feed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809598" y="4429354"/>
            <a:ext cx="509595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evaluation, documentation, and final demo</a:t>
            </a:r>
            <a:endParaRPr lang="en-US" sz="17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39098" y="1609344"/>
            <a:ext cx="571500" cy="571500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 l="-365" r="-365"/>
          <a:stretch/>
        </p:blipFill>
        <p:spPr>
          <a:xfrm>
            <a:off x="8891626" y="2752344"/>
            <a:ext cx="599846" cy="476402"/>
          </a:xfrm>
          <a:prstGeom prst="rect">
            <a:avLst/>
          </a:prstGeom>
        </p:spPr>
      </p:pic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82582" y="2752344"/>
            <a:ext cx="476402" cy="476402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76629" r="-76629"/>
          <a:stretch/>
        </p:blipFill>
        <p:spPr>
          <a:xfrm>
            <a:off x="8891626" y="3514954"/>
            <a:ext cx="1266444" cy="571500"/>
          </a:xfrm>
          <a:prstGeom prst="rect">
            <a:avLst/>
          </a:prstGeom>
        </p:spPr>
      </p:pic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286646" y="4371746"/>
            <a:ext cx="476402" cy="47640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793D8-0074-88FB-A98F-94B9E2BA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E01437-215D-DBDF-7FB3-ECDBB9CDB06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C83984F-F43B-763A-5C46-22DC851E7273}"/>
              </a:ext>
            </a:extLst>
          </p:cNvPr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054AAB-4D84-5FBE-5331-EA39B9151A57}"/>
              </a:ext>
            </a:extLst>
          </p:cNvPr>
          <p:cNvSpPr txBox="1"/>
          <p:nvPr/>
        </p:nvSpPr>
        <p:spPr>
          <a:xfrm>
            <a:off x="476402" y="219456"/>
            <a:ext cx="21342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27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35936753-EC6D-075D-13C9-8D7821F4DD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1245413"/>
            <a:ext cx="209398" cy="20939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E95175F0-529A-709D-4C13-C302BC5CFE78}"/>
              </a:ext>
            </a:extLst>
          </p:cNvPr>
          <p:cNvSpPr txBox="1"/>
          <p:nvPr/>
        </p:nvSpPr>
        <p:spPr>
          <a:xfrm>
            <a:off x="828446" y="1257300"/>
            <a:ext cx="47722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base YOLO detection system</a:t>
            </a:r>
            <a:endParaRPr lang="en-US" sz="18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B410B82C-CC01-A031-57AA-6E9D37311B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402" y="1832458"/>
            <a:ext cx="209398" cy="209398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CB078F83-511D-8265-B0A5-A04B2F0A200E}"/>
              </a:ext>
            </a:extLst>
          </p:cNvPr>
          <p:cNvSpPr txBox="1"/>
          <p:nvPr/>
        </p:nvSpPr>
        <p:spPr>
          <a:xfrm>
            <a:off x="828446" y="1844345"/>
            <a:ext cx="4763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on customization for Indian traffic</a:t>
            </a:r>
            <a:endParaRPr lang="en-US" sz="18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337390FD-9B0A-5161-0D7D-E96141409B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6402" y="2418588"/>
            <a:ext cx="209398" cy="209398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B4AEA4D7-7036-AA9E-8FEF-CFAF9AF94E41}"/>
              </a:ext>
            </a:extLst>
          </p:cNvPr>
          <p:cNvSpPr txBox="1"/>
          <p:nvPr/>
        </p:nvSpPr>
        <p:spPr>
          <a:xfrm>
            <a:off x="828446" y="2430475"/>
            <a:ext cx="52102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Fine-tuning phase ongoing for better accuracy</a:t>
            </a:r>
            <a:endParaRPr lang="en-US" sz="1800" dirty="0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89ABAFDC-0B01-9988-F59D-BF11E64149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600" b="-600"/>
          <a:stretch/>
        </p:blipFill>
        <p:spPr>
          <a:xfrm>
            <a:off x="476402" y="3005633"/>
            <a:ext cx="181051" cy="209398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C7B7EE03-CA9B-CCC4-6437-25347772AAA1}"/>
              </a:ext>
            </a:extLst>
          </p:cNvPr>
          <p:cNvSpPr txBox="1"/>
          <p:nvPr/>
        </p:nvSpPr>
        <p:spPr>
          <a:xfrm>
            <a:off x="800100" y="3017520"/>
            <a:ext cx="5306263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for integration with signal control logic in upcoming weeks</a:t>
            </a:r>
            <a:endParaRPr lang="en-US" sz="180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1F618656-253F-A24A-B779-CCB72DC14AD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91549" y="1423721"/>
            <a:ext cx="666598" cy="666598"/>
          </a:xfrm>
          <a:prstGeom prst="rect">
            <a:avLst/>
          </a:prstGeom>
        </p:spPr>
      </p:pic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26E89164-CB54-6CD4-3606-A44D56258BD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7" r="-17"/>
          <a:stretch/>
        </p:blipFill>
        <p:spPr>
          <a:xfrm>
            <a:off x="9072677" y="2376526"/>
            <a:ext cx="333756" cy="381305"/>
          </a:xfrm>
          <a:prstGeom prst="rect">
            <a:avLst/>
          </a:prstGeom>
        </p:spPr>
      </p:pic>
      <p:pic>
        <p:nvPicPr>
          <p:cNvPr id="15" name="Image 6" descr="preencoded.png">
            <a:extLst>
              <a:ext uri="{FF2B5EF4-FFF2-40B4-BE49-F238E27FC236}">
                <a16:creationId xmlns:a16="http://schemas.microsoft.com/office/drawing/2014/main" id="{37B38E61-22F5-F548-747B-C522D040B8A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596628" y="2376526"/>
            <a:ext cx="381305" cy="381305"/>
          </a:xfrm>
          <a:prstGeom prst="rect">
            <a:avLst/>
          </a:prstGeom>
        </p:spPr>
      </p:pic>
      <p:pic>
        <p:nvPicPr>
          <p:cNvPr id="16" name="Image 7" descr="preencoded.png">
            <a:extLst>
              <a:ext uri="{FF2B5EF4-FFF2-40B4-BE49-F238E27FC236}">
                <a16:creationId xmlns:a16="http://schemas.microsoft.com/office/drawing/2014/main" id="{01CFF500-5A89-A64E-D978-01A0565F8A8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688" r="-688"/>
          <a:stretch/>
        </p:blipFill>
        <p:spPr>
          <a:xfrm>
            <a:off x="8706002" y="3148279"/>
            <a:ext cx="362102" cy="571500"/>
          </a:xfrm>
          <a:prstGeom prst="rect">
            <a:avLst/>
          </a:prstGeom>
        </p:spPr>
      </p:pic>
      <p:pic>
        <p:nvPicPr>
          <p:cNvPr id="17" name="Image 8" descr="preencoded.png">
            <a:extLst>
              <a:ext uri="{FF2B5EF4-FFF2-40B4-BE49-F238E27FC236}">
                <a16:creationId xmlns:a16="http://schemas.microsoft.com/office/drawing/2014/main" id="{C66306C3-B9F6-13AD-3A4E-A99AD6887C5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17" r="-17"/>
          <a:stretch/>
        </p:blipFill>
        <p:spPr>
          <a:xfrm>
            <a:off x="9210751" y="3314700"/>
            <a:ext cx="333756" cy="381305"/>
          </a:xfrm>
          <a:prstGeom prst="rect">
            <a:avLst/>
          </a:prstGeom>
        </p:spPr>
      </p:pic>
      <p:pic>
        <p:nvPicPr>
          <p:cNvPr id="18" name="Image 9" descr="preencoded.png">
            <a:extLst>
              <a:ext uri="{FF2B5EF4-FFF2-40B4-BE49-F238E27FC236}">
                <a16:creationId xmlns:a16="http://schemas.microsoft.com/office/drawing/2014/main" id="{8308655F-6D2F-960A-C0E8-DC743FDE40C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192" r="-192"/>
          <a:stretch/>
        </p:blipFill>
        <p:spPr>
          <a:xfrm>
            <a:off x="9687154" y="3189427"/>
            <a:ext cx="657454" cy="523951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4FF89B37-7ABC-0A25-1F66-AED9870472A3}"/>
              </a:ext>
            </a:extLst>
          </p:cNvPr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40D4EDF6-88F2-30D0-84BD-8A49E54140A7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C20FE7D9-2305-DDC6-CFE1-561A408E50D8}"/>
              </a:ext>
            </a:extLst>
          </p:cNvPr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79633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499</Words>
  <Application>Microsoft Office PowerPoint</Application>
  <PresentationFormat>Widescreen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Shivam Kansara</cp:lastModifiedBy>
  <cp:revision>2</cp:revision>
  <dcterms:created xsi:type="dcterms:W3CDTF">2025-09-03T18:33:41Z</dcterms:created>
  <dcterms:modified xsi:type="dcterms:W3CDTF">2025-09-03T18:46:08Z</dcterms:modified>
</cp:coreProperties>
</file>